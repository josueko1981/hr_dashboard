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9E-4783-9FBF-B3ABDD37C0E8}"/>
              </c:ext>
            </c:extLst>
          </c:dPt>
          <c:dPt>
            <c:idx val="1"/>
            <c:bubble3D val="0"/>
            <c:spPr>
              <a:solidFill>
                <a:srgbClr val="E3E5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9E-4783-9FBF-B3ABDD37C0E8}"/>
              </c:ext>
            </c:extLst>
          </c:dPt>
          <c:cat>
            <c:strRef>
              <c:f>Sheet1!$A$2:$A$3</c:f>
              <c:strCache>
                <c:ptCount val="2"/>
                <c:pt idx="0">
                  <c:v>Meta</c:v>
                </c:pt>
                <c:pt idx="1">
                  <c:v>Resto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9E-4783-9FBF-B3ABDD37C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80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Encuadre: la exactitud de inventario es el indicador que sostiene todo lo demas. En nuestra planta tambien define el cumplimiento IMMEX porque el fisico debe cuadrar con Anexo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4 objetivos. El cuarto es lo que hace este entrenamiento nuestro y no generico.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formula penaliza cualquier diferencia, sobre o por debajo. 100% solo si fisico = sistema exactamente.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sexta es propia de maquila: la exactitud no es solo eficiencia, es cumplimiento aduanal.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cada impacto al canvas: un faltante de hilo o de ojillos para la linea de costura. Una baja exactitud se paga en paros y en exposicion aduanal.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de la planta: llegar y sostenerse en 95-98% y avanzar a clase mundial. Hoy debemos medir donde estamos.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meta es 98%, el minimo aceptable 95%. El numero actual lo mediremos con el conteo y la hoja de conciliacion del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seis palancas son el plan. Las tres primeras son habitos diarios; las tres ultimas son sistema y metodo.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ciclo es nuestro marco de trabajo. La hoja KPI del toolkit cubre MEDIR y CONTROLAR; la conciliacion cubre ANALIZAR; el Kanban cubre CORREGIR y MEJORAR.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asignacion ABC para la planta. Frecuencias ajustables. Lo importante: las partidas A se cuentan seguido porque mueven 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conectamos el tema general con NUESTRO problema. Estas son exactamente las tres causas que ataca el procedimiento Kanban y la hoja de conversion del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herramientas ya estan listas en el procedimiento OP-PRO-KAN-001 y el toolkit de Excel. Este entrenamiento es el por que; esas herramientas son el como.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exactitud es responsabilidad de todos, en cadena. Si un eslabon falla en su captura, el numero se cae.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realista a 90 dias. Cada bloque produce un entregable medible. La meta al final del trimestre: exactitud &gt;=95% sostenida.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exactitud es la base de todo. Llamado a la accion: empezamos por medir la linea base esta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693257" y="900487"/>
            <a:ext cx="1143000" cy="11430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717" y="1151947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09247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TACNA SERVICES, INC.  ·  OPERATIONS &amp; CONTINUOUS IMPROVEMENT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29287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Exactitud de Inventario: el KPI que define la operación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548640" y="4009447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Accuracy — the KPI that defines operations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4603807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para planta  MP/ Training for the canvas plant   ·   Operaciones · Almacén · Inventarios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22869D1-A8BB-E923-97A0-BB8EA4B6B5D3}"/>
              </a:ext>
            </a:extLst>
          </p:cNvPr>
          <p:cNvSpPr/>
          <p:nvPr/>
        </p:nvSpPr>
        <p:spPr>
          <a:xfrm>
            <a:off x="640080" y="51126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9AA0A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9AA0A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COUCHING                     : Armando Valdez e Ivan Garcia 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E7274A6-CF5B-7174-EA32-B916C27D8A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509" y="5212080"/>
            <a:ext cx="1489512" cy="4996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/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lograremos en esta sesión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achieve in this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41248" y="2185416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8658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8541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el KPI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62432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la exactitud y cómo se mide.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65960" y="3172968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accuracy KPI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87452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569964" y="2185416"/>
            <a:ext cx="914400" cy="91440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2386584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94676" y="218541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su impacto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94676" y="262432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define servicio, costo y cumplimiento.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94676" y="3172968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why it drives the operation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841248" y="4288536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489704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428853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cómo mejorarla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965960" y="472744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Conteos ABC, disciplina, causa raíz.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965960" y="5276088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improve it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77356" y="397764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6569964" y="4288536"/>
            <a:ext cx="914400" cy="91440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4489704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94676" y="428853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Conectarla a nuestro caso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694676" y="472744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y conciliación con Anexo 24.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694676" y="5276088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our canvas plant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/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exactitud de inventario?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inventory accuracy?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3931920"/>
          </a:xfrm>
          <a:prstGeom prst="roundRect">
            <a:avLst>
              <a:gd name="adj" fmla="val 209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grado de coincidencia entre el inventario físico (lo que hay en piso) y el inventario del sistema.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degree of match between the physical count and the system record.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nuestra planta: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 = conteo en almacén y piso.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= saldo en Anexo 24 (IMMEX).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1965960"/>
            <a:ext cx="4782312" cy="3931920"/>
          </a:xfrm>
          <a:prstGeom prst="roundRect">
            <a:avLst>
              <a:gd name="adj" fmla="val 2093"/>
            </a:avLst>
          </a:prstGeom>
          <a:solidFill>
            <a:srgbClr val="22314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858000" y="233172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Exactitud de Inventario (%)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32461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 Físico − Sistema  |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772400" y="3767328"/>
            <a:ext cx="295351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406640" y="3822192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858000" y="470916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Exactitud = ( 1 − </a:t>
            </a:r>
            <a:r>
              <a:rPr lang="en-US" sz="1500" b="1" i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 arriba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 × 100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525780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físico 122, sistema 130  →  ( 1 − 8/122 ) × 100 = 93.4%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/ 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clave?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critical?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04672" y="2148840"/>
            <a:ext cx="749808" cy="74980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2313798"/>
            <a:ext cx="419892" cy="4198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21305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Sostiene la planificación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y producción confían en el dato.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planning &amp; supply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52544" y="187452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608576" y="2148840"/>
            <a:ext cx="749808" cy="74980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534" y="2313798"/>
            <a:ext cx="419892" cy="4198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21305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eficiente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81144" y="29260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surte sin errores ni búsquedas.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81144" y="34290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Efficient, error-free picking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56448" y="187452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8412480" y="2148840"/>
            <a:ext cx="749808" cy="74980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438" y="2313798"/>
            <a:ext cx="419892" cy="4198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72016" y="21305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faltantes y excesos ficticios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85048" y="29260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paros y menos capital inmovilizado.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85048" y="34290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false shortages/excesses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804672" y="4297680"/>
            <a:ext cx="749808" cy="74980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4462638"/>
            <a:ext cx="419892" cy="4198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64208" y="427939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el servicio (OTIF)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77240" y="50749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completas y a tiempo al cliente.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77240" y="55778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OTIF &amp; customer service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352544" y="402336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4"/>
          <p:cNvSpPr/>
          <p:nvPr/>
        </p:nvSpPr>
        <p:spPr>
          <a:xfrm>
            <a:off x="4608576" y="4297680"/>
            <a:ext cx="749808" cy="74980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534" y="4462638"/>
            <a:ext cx="419892" cy="4198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68112" y="427939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el capital de trabajo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81144" y="50749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inventario atrapado en rollos parados.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81144" y="55778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Frees working capital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8156448" y="402336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29"/>
          <p:cNvSpPr/>
          <p:nvPr/>
        </p:nvSpPr>
        <p:spPr>
          <a:xfrm>
            <a:off x="8412480" y="4297680"/>
            <a:ext cx="749808" cy="749808"/>
          </a:xfrm>
          <a:prstGeom prst="ellipse">
            <a:avLst/>
          </a:prstGeom>
          <a:solidFill>
            <a:srgbClr val="D4AF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438" y="4462638"/>
            <a:ext cx="419892" cy="41989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272016" y="427939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IMMEX / Anexo 24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385048" y="50749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el programa: físico debe cuadrar.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8385048" y="55778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IMMEX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/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de una baja exactitud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of low accuracy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94944" y="2048256"/>
            <a:ext cx="420624" cy="4206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140793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75104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basadas en datos incorrectos.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88336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FBE4E7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694944" y="2816352"/>
            <a:ext cx="420624" cy="4206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0888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743200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Paros de línea de costura por faltantes reales o falsos.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456432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694944" y="3584448"/>
            <a:ext cx="420624" cy="4206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676985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511296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Rollos y herrajes inmovilizados (capital atrapado).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224528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FBE4E7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694944" y="4352544"/>
            <a:ext cx="420624" cy="4206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445081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279392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Reprocesos, conteos extra y sobrecostos.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992624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6"/>
          <p:cNvSpPr/>
          <p:nvPr/>
        </p:nvSpPr>
        <p:spPr>
          <a:xfrm>
            <a:off x="694944" y="5120640"/>
            <a:ext cx="420624" cy="4206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521317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5047488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productividad y de confianza en el dato.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548640" y="5760720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FBE4E7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19"/>
          <p:cNvSpPr/>
          <p:nvPr/>
        </p:nvSpPr>
        <p:spPr>
          <a:xfrm>
            <a:off x="694944" y="5888736"/>
            <a:ext cx="420624" cy="4206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5981273"/>
            <a:ext cx="235549" cy="23554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5815584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Diferencias contra Anexo 24 → riesgo IMMEX.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/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 exactitud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benchmark levels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&gt;98%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8074152" cy="841248"/>
          </a:xfrm>
          <a:prstGeom prst="roundRect">
            <a:avLst>
              <a:gd name="adj" fmla="val 7609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931920" y="2212848"/>
            <a:ext cx="7708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mundial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2606040"/>
            <a:ext cx="7708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95–98%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66160" y="3090672"/>
            <a:ext cx="8074152" cy="841248"/>
          </a:xfrm>
          <a:prstGeom prst="roundRect">
            <a:avLst>
              <a:gd name="adj" fmla="val 7609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7708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controlada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3593592"/>
            <a:ext cx="7708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operation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E8A00D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90–95%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566160" y="4078224"/>
            <a:ext cx="8074152" cy="841248"/>
          </a:xfrm>
          <a:prstGeom prst="roundRect">
            <a:avLst>
              <a:gd name="adj" fmla="val 7609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931920" y="4187952"/>
            <a:ext cx="7708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operativo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931920" y="4581144"/>
            <a:ext cx="7708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risk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65776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8640" y="506577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&lt;90%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566160" y="5065776"/>
            <a:ext cx="8074152" cy="841248"/>
          </a:xfrm>
          <a:prstGeom prst="roundRect">
            <a:avLst>
              <a:gd name="adj" fmla="val 7609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931920" y="5175504"/>
            <a:ext cx="7708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exposición al riesgo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931920" y="5568696"/>
            <a:ext cx="7708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exposure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KPI / THE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meta de exactitud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accuracy target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417320" y="3246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41732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TARGET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2240280"/>
            <a:ext cx="578815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6172200" y="2601468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812280" y="240487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Target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12280" y="277063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98%  — clase mundial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3456432"/>
            <a:ext cx="578815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6172200" y="3817620"/>
            <a:ext cx="329184" cy="329184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812280" y="362102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aceptable / Minimum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12280" y="398678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  — operación controlada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52160" y="4672584"/>
            <a:ext cx="578815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6172200" y="5033772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6812280" y="483717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/ Alert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12280" y="520293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90%  — acción inmediata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PALANCAS / LEVERS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mejorar la exactitud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improve accuracy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04672" y="2148840"/>
            <a:ext cx="749808" cy="749808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2313798"/>
            <a:ext cx="419892" cy="4198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216712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Conteos cíclicos (ABC)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95351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seguido, por prioridad.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2544" y="187452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608576" y="2148840"/>
            <a:ext cx="749808" cy="749808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534" y="2313798"/>
            <a:ext cx="419892" cy="4198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16712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estandarizados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81144" y="295351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 operativa, un solo método.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187452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8412480" y="2148840"/>
            <a:ext cx="749808" cy="749808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438" y="2313798"/>
            <a:ext cx="419892" cy="4198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72016" y="216712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en tiempo real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85048" y="295351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movimiento se captura al momento.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804672" y="4160520"/>
            <a:ext cx="749808" cy="749808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4325478"/>
            <a:ext cx="419892" cy="4198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64208" y="417880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movimientos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496519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entró, salió y a dónde.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52544" y="388620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4608576" y="4160520"/>
            <a:ext cx="749808" cy="749808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534" y="4325478"/>
            <a:ext cx="419892" cy="4198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417880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causa raíz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81144" y="496519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Atacar el por qué, no el síntoma.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56448" y="388620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8412480" y="4160520"/>
            <a:ext cx="749808" cy="749808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438" y="4325478"/>
            <a:ext cx="419892" cy="4198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72016" y="417880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24 bien implementado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85048" y="496519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control al día y correcto.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/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gestión de la exactitud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accuracy management 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103120" cy="2468880"/>
          </a:xfrm>
          <a:prstGeom prst="roundRect">
            <a:avLst>
              <a:gd name="adj" fmla="val 391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61288" y="2724912"/>
            <a:ext cx="877824" cy="877824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09" y="2918033"/>
            <a:ext cx="491581" cy="4915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MEDIR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ubicación / SKU / familia.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352044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16352" y="2468880"/>
            <a:ext cx="2103120" cy="2468880"/>
          </a:xfrm>
          <a:prstGeom prst="roundRect">
            <a:avLst>
              <a:gd name="adj" fmla="val 391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3429000" y="2724912"/>
            <a:ext cx="877824" cy="877824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121" y="2918033"/>
            <a:ext cx="491581" cy="4915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07792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ANALIZAR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53512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brechas y causa raíz.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953512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20440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84064" y="2468880"/>
            <a:ext cx="2103120" cy="2468880"/>
          </a:xfrm>
          <a:prstGeom prst="roundRect">
            <a:avLst>
              <a:gd name="adj" fmla="val 391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4"/>
          <p:cNvSpPr/>
          <p:nvPr/>
        </p:nvSpPr>
        <p:spPr>
          <a:xfrm>
            <a:off x="5696712" y="2724912"/>
            <a:ext cx="877824" cy="877824"/>
          </a:xfrm>
          <a:prstGeom prst="ellipse">
            <a:avLst/>
          </a:prstGeom>
          <a:solidFill>
            <a:srgbClr val="D4AF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833" y="2918033"/>
            <a:ext cx="491581" cy="49158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75504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CORREGIR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221224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planes de acción.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221224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3520440"/>
            <a:ext cx="292608" cy="29260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351776" y="2468880"/>
            <a:ext cx="2103120" cy="2468880"/>
          </a:xfrm>
          <a:prstGeom prst="roundRect">
            <a:avLst>
              <a:gd name="adj" fmla="val 391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19"/>
          <p:cNvSpPr/>
          <p:nvPr/>
        </p:nvSpPr>
        <p:spPr>
          <a:xfrm>
            <a:off x="7964424" y="2724912"/>
            <a:ext cx="877824" cy="877824"/>
          </a:xfrm>
          <a:prstGeom prst="ellipse">
            <a:avLst/>
          </a:prstGeom>
          <a:solidFill>
            <a:srgbClr val="22314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7545" y="2918033"/>
            <a:ext cx="491581" cy="49158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43216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CONTROLAR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488936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KPIs y auditorías.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7488936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3520440"/>
            <a:ext cx="292608" cy="29260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619488" y="2468880"/>
            <a:ext cx="2103120" cy="2468880"/>
          </a:xfrm>
          <a:prstGeom prst="roundRect">
            <a:avLst>
              <a:gd name="adj" fmla="val 391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24"/>
          <p:cNvSpPr/>
          <p:nvPr/>
        </p:nvSpPr>
        <p:spPr>
          <a:xfrm>
            <a:off x="10232136" y="2724912"/>
            <a:ext cx="877824" cy="877824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5257" y="2918033"/>
            <a:ext cx="491581" cy="491581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10928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MEJORAR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756648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y mejora continua.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9756648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950" dirty="0"/>
          </a:p>
        </p:txBody>
      </p:sp>
      <p:sp>
        <p:nvSpPr>
          <p:cNvPr id="39" name="Text 28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ciclo que nunca para: medir → analizar → corregir → controlar → mejorar. / A loop that never stops.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/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Conteo cíclico ABC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cycle counting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 un solo inventario anual, contamos un poco cada día, priorizando lo más importante. / Instead of one yearly count, count a little every day, by priority.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453384" cy="2834640"/>
          </a:xfrm>
          <a:prstGeom prst="roundRect">
            <a:avLst>
              <a:gd name="adj" fmla="val 290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708404" y="2880360"/>
            <a:ext cx="1133856" cy="113385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708404" y="28803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valor / movimiento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semanal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00176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Lona, herrajes clave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7784" y="2606040"/>
            <a:ext cx="3453384" cy="2834640"/>
          </a:xfrm>
          <a:prstGeom prst="roundRect">
            <a:avLst>
              <a:gd name="adj" fmla="val 290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5527548" y="2880360"/>
            <a:ext cx="1133856" cy="1133856"/>
          </a:xfrm>
          <a:prstGeom prst="ellipse">
            <a:avLst/>
          </a:prstGeom>
          <a:solidFill>
            <a:srgbClr val="E8A00D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527548" y="28803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50664" y="416052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medio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0664" y="46177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quincenal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0664" y="500176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Hilos, cinchas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6928" y="2606040"/>
            <a:ext cx="3453384" cy="2834640"/>
          </a:xfrm>
          <a:prstGeom prst="roundRect">
            <a:avLst>
              <a:gd name="adj" fmla="val 290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9346692" y="2880360"/>
            <a:ext cx="1133856" cy="1133856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346692" y="288036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69808" y="416052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valor / volumen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9808" y="46177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mensual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9808" y="500176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Consumibles menores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CASO / OUR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raíz en la planta de lona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in the canvas plant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hoy el físico no cuadra con Anexo 24? Tres causas concretas: / Why physical ≠ Anexo 24 today — three concrete causes: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BE4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818132" y="2761488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2962656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79476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medida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Contamos rollos; el sistema pide kg/m².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464515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mismatch (roll ↔ kg)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67784" y="246888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BE4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5637276" y="2761488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2962656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664" y="379476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Ubicaciones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6384" y="41605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dirección fija por material.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50664" y="464515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not defined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86928" y="2468880"/>
            <a:ext cx="3453384" cy="2468880"/>
          </a:xfrm>
          <a:prstGeom prst="roundRect">
            <a:avLst>
              <a:gd name="adj" fmla="val 3333"/>
            </a:avLst>
          </a:prstGeom>
          <a:solidFill>
            <a:srgbClr val="FBE4E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9456420" y="2761488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588" y="2962656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9808" y="379476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5528" y="41605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Rollos parciales y mermas sin registrar.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69808" y="464515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Partials &amp; remnants uncaptured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estas tres causas es resolver la exactitud. / Fixing these three fixes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/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vamos a lograr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achieve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2956" cy="18288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41248" y="2231136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3230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23113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visual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5960" y="267004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de reabasto y orden en piso.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65960" y="3246120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Kanban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920240"/>
            <a:ext cx="5362956" cy="18288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569964" y="2231136"/>
            <a:ext cx="914400" cy="91440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2432304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94676" y="223113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de unidades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694676" y="267004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 ↔ kg/m² para cuadrar con Anexo 24.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94676" y="3246120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UoM conversion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5362956" cy="18288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841248" y="4334256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535424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433425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Ubicaciones codificadas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965960" y="477316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Área-Rack-Nivel-Posición.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965960" y="5349240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locations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77356" y="4023360"/>
            <a:ext cx="5362956" cy="18288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6569964" y="4334256"/>
            <a:ext cx="914400" cy="91440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4535424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94676" y="4334256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Conciliación + KPI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694676" y="4773168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vs. Anexo 24 con semáforo.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694676" y="5349240"/>
            <a:ext cx="3762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&amp; KPI board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/ RESPONSIBILITIES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hace qué por la exactitud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 for accuracy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22960" y="2121408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224613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848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2084832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Mueven con tarjeta, cuentan bien, avisan diferencias.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822960" y="3227832"/>
            <a:ext cx="566928" cy="56692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84" y="3352556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1912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Almacén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3191256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Ubican, capturan unidad correcta, surten exacto.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4133088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684" y="4458980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97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Inventarios / Aduana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29200" y="4297680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Vinculan movimientos a Anexo 24 y concilian.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5239512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822960" y="5440680"/>
            <a:ext cx="566928" cy="56692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684" y="5565404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4041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029200" y="5404104"/>
            <a:ext cx="6428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KPIs, audita y dirige la causa raíz.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/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 a 90 días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action plan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1–2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1965960"/>
            <a:ext cx="86685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291840" y="2039112"/>
            <a:ext cx="8074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Medir: conteo total y línea base de exactitud.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386584"/>
            <a:ext cx="8074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3–4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0" y="2825496"/>
            <a:ext cx="8668512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91840" y="2898648"/>
            <a:ext cx="8074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unidades y codificar ubicaciones.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246120"/>
            <a:ext cx="8074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UoM &amp; locations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48640" y="368503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5–6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71800" y="3685032"/>
            <a:ext cx="86685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291840" y="3758184"/>
            <a:ext cx="8074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Conciliar y ajustar Anexo 24 con evidencia.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4105656"/>
            <a:ext cx="8074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Anexo 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44568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8640" y="45445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7–9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71800" y="4544568"/>
            <a:ext cx="8668512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291840" y="4617720"/>
            <a:ext cx="8074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Kanban + conteos cíclicos ABC.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4965192"/>
            <a:ext cx="8074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pilot + ABC counts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04104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48640" y="54041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10–12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71800" y="5404104"/>
            <a:ext cx="86685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291840" y="5477256"/>
            <a:ext cx="8074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Sostener: KPI board, auditoría, despliegue.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5824728"/>
            <a:ext cx="8074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&amp; roll out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023360" cy="4023360"/>
          </a:xfrm>
          <a:prstGeom prst="ellipse">
            <a:avLst/>
          </a:prstGeom>
          <a:solidFill>
            <a:srgbClr val="C8102E">
              <a:alpha val="2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262872" y="4297680"/>
            <a:ext cx="4023360" cy="402336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43000" cy="11430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316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exactitud de inventario no es control: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estabilidad operativa y ventaja competitiva.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accuracy is not control — it is operational stability and competitive advantage.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Target:  </a:t>
            </a:r>
            <a:r>
              <a:rPr lang="en-US" sz="15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 en 90 días, rumbo a ≥ 98%.   ·   Empezamos midiendo.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/ Questions   ·   ¡Gracias! /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1489</Words>
  <Application>Microsoft Office PowerPoint</Application>
  <PresentationFormat>Panorámica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Exactitud de Inventario</dc:title>
  <dc:subject>PptxGenJS Presentation</dc:subject>
  <dc:creator>TACNA Services, Inc.</dc:creator>
  <cp:lastModifiedBy>Susana De la Torre</cp:lastModifiedBy>
  <cp:revision>2</cp:revision>
  <dcterms:created xsi:type="dcterms:W3CDTF">2026-06-27T23:19:26Z</dcterms:created>
  <dcterms:modified xsi:type="dcterms:W3CDTF">2026-06-27T23:29:59Z</dcterms:modified>
</cp:coreProperties>
</file>