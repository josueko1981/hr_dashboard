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7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0329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Bienvenida. Hoy aprenderemos qué es un Kanban desde cero y, sobre todo, qué debe hacer cada quien. No se necesita experiencia previa.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Repasar la agenda en 30 segundos. Enfatizar que el punto 5 (qué debes hacer) es lo más importante.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Clave: no es para culpar a nadie. Es un problema de método. El Kanban nos da el método. Anexo 24 es el sistema de control de inventarios que exige el programa IMMEX.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la tarjeta. Cuando aparece la tarjeta (porque se vació un espacio), es la señal para reponer. Ni antes, ni después.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analogía de la alacena conecta de inmediato. En el trabajo es igual, pero ordenado y con reglas.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Repetir el ciclo en voz alta: usas, señal, repones, listo. La tarjeta es el permiso para reponer.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Asociar colores con el semáforo del tablero. Verde lleno, amarillo repón, rojo nunca llegar.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Insistir: respetar la ubicación etiquetada. No dejar rollos sueltos fuera de su lugar.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tienen que calcular kilos a mano: lo hace la herramienta. Solo deben contar bien y en la unidad indicada en la tarjeta.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slide más importante para operadores. Leer cada punto y pedir un ejemplo a la sala.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Almacén es el puente con Anexo 24. La captura correcta de unidad y ubicación es lo que hace que el físico cuadre con el sistema.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a la sala que repitan las 5 reglas. Estas se quedan pegadas en el tablero.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Tono no punitivo: son errores comunes al inicio. La meta es corregir el método, no señalar personas.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éxito con su día a día: menos búsquedas y menos paros. Meta de exactitud: 97% o más.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motivador. Abrir a preguntas. Anunciar fecha del piloto y quién es el líder de Mejora Continua.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7112" y="-1463040"/>
            <a:ext cx="4206240" cy="4206240"/>
          </a:xfrm>
          <a:prstGeom prst="ellipse">
            <a:avLst/>
          </a:prstGeom>
          <a:solidFill>
            <a:srgbClr val="C8102E">
              <a:alpha val="22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-1280160" y="4480560"/>
            <a:ext cx="3840480" cy="3840480"/>
          </a:xfrm>
          <a:prstGeom prst="ellipse">
            <a:avLst/>
          </a:prstGeom>
          <a:solidFill>
            <a:srgbClr val="D4AF37">
              <a:alpha val="18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548640" y="411480"/>
            <a:ext cx="1143000" cy="1143000"/>
          </a:xfrm>
          <a:prstGeom prst="ellipse">
            <a:avLst/>
          </a:prstGeom>
          <a:solidFill>
            <a:srgbClr val="C8102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64008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10312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Kanban: Inducción al control visual de inventarios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548640" y="3566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Kanban System — Visual Inventory Control Induction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548640" y="5029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b="1" dirty="0">
              <a:solidFill>
                <a:srgbClr val="9AA0A8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buNone/>
            </a:pPr>
            <a:endParaRPr lang="en-US" sz="1600" b="1" dirty="0">
              <a:solidFill>
                <a:srgbClr val="9AA0A8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-120"/>
              </a:rPr>
              <a:t>COUCHING                     : Armando Valdez e Ivan Garcia  </a:t>
            </a:r>
            <a:endParaRPr lang="en-US" sz="2800" b="1" dirty="0">
              <a:solidFill>
                <a:srgbClr val="FF0000"/>
              </a:solidFill>
            </a:endParaRPr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2749DBFD-0772-5C82-5803-D19FBD233D4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6509" y="5212080"/>
            <a:ext cx="1489512" cy="499680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/ WHAT WE WILL SEE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veremos hoy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will cover today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453384" cy="1783080"/>
          </a:xfrm>
          <a:prstGeom prst="roundRect">
            <a:avLst>
              <a:gd name="adj" fmla="val 4615"/>
            </a:avLst>
          </a:prstGeom>
          <a:solidFill>
            <a:srgbClr val="F4F5F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822960" y="2167128"/>
            <a:ext cx="822960" cy="822960"/>
          </a:xfrm>
          <a:prstGeom prst="ellipse">
            <a:avLst/>
          </a:prstGeom>
          <a:solidFill>
            <a:srgbClr val="C8102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11" y="2348179"/>
            <a:ext cx="460858" cy="4608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258568"/>
            <a:ext cx="2036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Por qué estamos aquí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783080" y="2715768"/>
            <a:ext cx="2036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are here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67784" y="1874520"/>
            <a:ext cx="3453384" cy="1783080"/>
          </a:xfrm>
          <a:prstGeom prst="roundRect">
            <a:avLst>
              <a:gd name="adj" fmla="val 4615"/>
            </a:avLst>
          </a:prstGeom>
          <a:solidFill>
            <a:srgbClr val="F4F5F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Shape 8"/>
          <p:cNvSpPr/>
          <p:nvPr/>
        </p:nvSpPr>
        <p:spPr>
          <a:xfrm>
            <a:off x="4642104" y="2167128"/>
            <a:ext cx="822960" cy="822960"/>
          </a:xfrm>
          <a:prstGeom prst="ellipse">
            <a:avLst/>
          </a:prstGeom>
          <a:solidFill>
            <a:srgbClr val="1F293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3155" y="2348179"/>
            <a:ext cx="460858" cy="46085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02224" y="2258568"/>
            <a:ext cx="2036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Qué es un Kanban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602224" y="2715768"/>
            <a:ext cx="2036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Kanban is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86928" y="1874520"/>
            <a:ext cx="3453384" cy="1783080"/>
          </a:xfrm>
          <a:prstGeom prst="roundRect">
            <a:avLst>
              <a:gd name="adj" fmla="val 4615"/>
            </a:avLst>
          </a:prstGeom>
          <a:solidFill>
            <a:srgbClr val="F4F5F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Shape 12"/>
          <p:cNvSpPr/>
          <p:nvPr/>
        </p:nvSpPr>
        <p:spPr>
          <a:xfrm>
            <a:off x="8461248" y="2167128"/>
            <a:ext cx="822960" cy="822960"/>
          </a:xfrm>
          <a:prstGeom prst="ellipse">
            <a:avLst/>
          </a:prstGeom>
          <a:solidFill>
            <a:srgbClr val="C8102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2299" y="2348179"/>
            <a:ext cx="460858" cy="46085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421368" y="2258568"/>
            <a:ext cx="2036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Una analogía simple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9421368" y="2715768"/>
            <a:ext cx="2036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analogy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4023360"/>
            <a:ext cx="3453384" cy="1783080"/>
          </a:xfrm>
          <a:prstGeom prst="roundRect">
            <a:avLst>
              <a:gd name="adj" fmla="val 4615"/>
            </a:avLst>
          </a:prstGeom>
          <a:solidFill>
            <a:srgbClr val="F4F5F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1" name="Shape 16"/>
          <p:cNvSpPr/>
          <p:nvPr/>
        </p:nvSpPr>
        <p:spPr>
          <a:xfrm>
            <a:off x="822960" y="4315968"/>
            <a:ext cx="822960" cy="822960"/>
          </a:xfrm>
          <a:prstGeom prst="ellipse">
            <a:avLst/>
          </a:prstGeom>
          <a:solidFill>
            <a:srgbClr val="1F293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011" y="4497019"/>
            <a:ext cx="460858" cy="46085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783080" y="4407408"/>
            <a:ext cx="2036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Cómo funciona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1783080" y="4864608"/>
            <a:ext cx="2036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367784" y="4023360"/>
            <a:ext cx="3453384" cy="1783080"/>
          </a:xfrm>
          <a:prstGeom prst="roundRect">
            <a:avLst>
              <a:gd name="adj" fmla="val 4615"/>
            </a:avLst>
          </a:prstGeom>
          <a:solidFill>
            <a:srgbClr val="F4F5F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6" name="Shape 20"/>
          <p:cNvSpPr/>
          <p:nvPr/>
        </p:nvSpPr>
        <p:spPr>
          <a:xfrm>
            <a:off x="4642104" y="4315968"/>
            <a:ext cx="822960" cy="822960"/>
          </a:xfrm>
          <a:prstGeom prst="ellipse">
            <a:avLst/>
          </a:prstGeom>
          <a:solidFill>
            <a:srgbClr val="C8102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3155" y="4497019"/>
            <a:ext cx="460858" cy="46085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602224" y="4407408"/>
            <a:ext cx="2036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Qué debes hacer TÚ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5602224" y="4864608"/>
            <a:ext cx="2036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must do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186928" y="4023360"/>
            <a:ext cx="3453384" cy="1783080"/>
          </a:xfrm>
          <a:prstGeom prst="roundRect">
            <a:avLst>
              <a:gd name="adj" fmla="val 4615"/>
            </a:avLst>
          </a:prstGeom>
          <a:solidFill>
            <a:srgbClr val="F4F5F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1" name="Shape 24"/>
          <p:cNvSpPr/>
          <p:nvPr/>
        </p:nvSpPr>
        <p:spPr>
          <a:xfrm>
            <a:off x="8461248" y="4315968"/>
            <a:ext cx="822960" cy="822960"/>
          </a:xfrm>
          <a:prstGeom prst="ellipse">
            <a:avLst/>
          </a:prstGeom>
          <a:solidFill>
            <a:srgbClr val="1F293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42299" y="4497019"/>
            <a:ext cx="460858" cy="46085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421368" y="4407408"/>
            <a:ext cx="2036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Cómo se ve el éxito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9421368" y="4864608"/>
            <a:ext cx="2036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success looks like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/ 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estamos aquí?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are we here?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nuestro </a:t>
            </a:r>
            <a:r>
              <a:rPr lang="en-US" sz="17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conteo físico no coincide</a:t>
            </a:r>
            <a:r>
              <a:rPr lang="en-US" sz="17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 lo que dice el sistema (Anexo 24).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our physical count does not match the system (Anexo 24). There are three reasons: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3453384" cy="2331720"/>
          </a:xfrm>
          <a:prstGeom prst="roundRect">
            <a:avLst>
              <a:gd name="adj" fmla="val 3529"/>
            </a:avLst>
          </a:prstGeom>
          <a:solidFill>
            <a:srgbClr val="F4F5F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1818132" y="3218688"/>
            <a:ext cx="914400" cy="914400"/>
          </a:xfrm>
          <a:prstGeom prst="ellipse">
            <a:avLst/>
          </a:prstGeom>
          <a:solidFill>
            <a:srgbClr val="C8102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9300" y="3419856"/>
            <a:ext cx="512064" cy="5120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4224528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Ubicaciones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77240" y="4590288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todo tiene un lugar fijo y con dirección.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31520" y="5047488"/>
            <a:ext cx="308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Locations not defined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367784" y="2926080"/>
            <a:ext cx="3453384" cy="2331720"/>
          </a:xfrm>
          <a:prstGeom prst="roundRect">
            <a:avLst>
              <a:gd name="adj" fmla="val 3529"/>
            </a:avLst>
          </a:prstGeom>
          <a:solidFill>
            <a:srgbClr val="F4F5F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Shape 11"/>
          <p:cNvSpPr/>
          <p:nvPr/>
        </p:nvSpPr>
        <p:spPr>
          <a:xfrm>
            <a:off x="5637276" y="3218688"/>
            <a:ext cx="914400" cy="914400"/>
          </a:xfrm>
          <a:prstGeom prst="ellipse">
            <a:avLst/>
          </a:prstGeom>
          <a:solidFill>
            <a:srgbClr val="C8102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8444" y="3419856"/>
            <a:ext cx="512064" cy="51206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50664" y="4224528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Cantidades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4596384" y="4590288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registramos rollos parciales ni mermas.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4550664" y="5047488"/>
            <a:ext cx="308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Quantities not captured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8186928" y="2926080"/>
            <a:ext cx="3453384" cy="2331720"/>
          </a:xfrm>
          <a:prstGeom prst="roundRect">
            <a:avLst>
              <a:gd name="adj" fmla="val 3529"/>
            </a:avLst>
          </a:prstGeom>
          <a:solidFill>
            <a:srgbClr val="F4F5F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0" name="Shape 16"/>
          <p:cNvSpPr/>
          <p:nvPr/>
        </p:nvSpPr>
        <p:spPr>
          <a:xfrm>
            <a:off x="9456420" y="3218688"/>
            <a:ext cx="914400" cy="914400"/>
          </a:xfrm>
          <a:prstGeom prst="ellipse">
            <a:avLst/>
          </a:prstGeom>
          <a:solidFill>
            <a:srgbClr val="C8102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7588" y="3419856"/>
            <a:ext cx="512064" cy="51206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69808" y="4224528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Unidades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8415528" y="4590288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Contamos en rollos, el sistema pide kilos.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8369808" y="5047488"/>
            <a:ext cx="308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of measure differ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DEFINICIÓN / DEFINITION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un Kanban?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Kanban?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6400800" cy="4023360"/>
          </a:xfrm>
          <a:prstGeom prst="roundRect">
            <a:avLst>
              <a:gd name="adj" fmla="val 2045"/>
            </a:avLst>
          </a:prstGeom>
          <a:solidFill>
            <a:srgbClr val="F4F5F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Kanban</a:t>
            </a: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es una palabra japonesa: </a:t>
            </a:r>
            <a:r>
              <a:rPr lang="en-US" sz="1600" i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“tarjeta o señal visual”.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5669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una señal sencilla (una tarjeta) que nos dice: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CUÁNDO reponer un material   ·   When to replenish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CUÁNTO reponer y de qué tipo   ·   How much / which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va guardado   ·   Where it is stored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406640" y="2011680"/>
            <a:ext cx="3657600" cy="3840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1750">
            <a:solidFill>
              <a:srgbClr val="C8102E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7406640" y="2011680"/>
            <a:ext cx="3657600" cy="64008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7406640" y="20116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TARJETA KANBAN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732520" y="2880360"/>
            <a:ext cx="1005840" cy="1005840"/>
          </a:xfrm>
          <a:prstGeom prst="ellipse">
            <a:avLst/>
          </a:prstGeom>
          <a:solidFill>
            <a:srgbClr val="F4F5F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805" y="3101645"/>
            <a:ext cx="563270" cy="56327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726680" y="411480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/ Part:  LONA-COT-12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Ubicación / Loc:  RM-A-1-01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Cantidad / Qty:  1 rollo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Mín / Máx:  2 / 6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ANALOGÍA / ANALOGY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la alacena de tu casa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like the pantry at home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291840" cy="2743200"/>
          </a:xfrm>
          <a:prstGeom prst="roundRect">
            <a:avLst>
              <a:gd name="adj" fmla="val 3000"/>
            </a:avLst>
          </a:prstGeom>
          <a:solidFill>
            <a:srgbClr val="F4F5F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1691640" y="2606040"/>
            <a:ext cx="1005840" cy="1005840"/>
          </a:xfrm>
          <a:prstGeom prst="ellipse">
            <a:avLst/>
          </a:prstGeom>
          <a:solidFill>
            <a:srgbClr val="1F293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2925" y="2827325"/>
            <a:ext cx="563270" cy="56327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7033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Usas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77240" y="4114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Tomas la última bolsa de frijol.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4572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take the last bag of beans.</a:t>
            </a:r>
            <a:endParaRPr lang="en-US" sz="10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5344" y="3456432"/>
            <a:ext cx="384048" cy="38404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343400" y="2286000"/>
            <a:ext cx="3291840" cy="2743200"/>
          </a:xfrm>
          <a:prstGeom prst="roundRect">
            <a:avLst>
              <a:gd name="adj" fmla="val 3000"/>
            </a:avLst>
          </a:prstGeom>
          <a:solidFill>
            <a:srgbClr val="E6F4E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Shape 9"/>
          <p:cNvSpPr/>
          <p:nvPr/>
        </p:nvSpPr>
        <p:spPr>
          <a:xfrm>
            <a:off x="5486400" y="2606040"/>
            <a:ext cx="1005840" cy="1005840"/>
          </a:xfrm>
          <a:prstGeom prst="ellipse">
            <a:avLst/>
          </a:prstGeom>
          <a:solidFill>
            <a:srgbClr val="2E7D32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7685" y="2827325"/>
            <a:ext cx="563270" cy="56327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26280" y="37033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Señalas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4572000" y="4114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apuntas en la lista del súper.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572000" y="4572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add it to the shopping list.</a:t>
            </a:r>
            <a:endParaRPr lang="en-US" sz="10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0104" y="3456432"/>
            <a:ext cx="384048" cy="384048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8138160" y="2286000"/>
            <a:ext cx="3291840" cy="2743200"/>
          </a:xfrm>
          <a:prstGeom prst="roundRect">
            <a:avLst>
              <a:gd name="adj" fmla="val 3000"/>
            </a:avLst>
          </a:prstGeom>
          <a:solidFill>
            <a:srgbClr val="F4F5F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0" name="Shape 14"/>
          <p:cNvSpPr/>
          <p:nvPr/>
        </p:nvSpPr>
        <p:spPr>
          <a:xfrm>
            <a:off x="9281160" y="2606040"/>
            <a:ext cx="1005840" cy="1005840"/>
          </a:xfrm>
          <a:prstGeom prst="ellipse">
            <a:avLst/>
          </a:prstGeom>
          <a:solidFill>
            <a:srgbClr val="1F293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2445" y="2827325"/>
            <a:ext cx="563270" cy="56327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321040" y="37033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Repones</a:t>
            </a:r>
            <a:endParaRPr lang="en-US" sz="1800" dirty="0"/>
          </a:p>
        </p:txBody>
      </p:sp>
      <p:sp>
        <p:nvSpPr>
          <p:cNvPr id="23" name="Text 16"/>
          <p:cNvSpPr/>
          <p:nvPr/>
        </p:nvSpPr>
        <p:spPr>
          <a:xfrm>
            <a:off x="8366760" y="4114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Compras y vuelves a llenar.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8366760" y="4572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buy it and refill.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548640" y="53949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lista del súper = la tarjeta Kanban.   /   The shopping list = the Kanban card.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CICLO / THE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funciona: un ciclo simple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 a simple loop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06040" cy="2468880"/>
          </a:xfrm>
          <a:prstGeom prst="roundRect">
            <a:avLst>
              <a:gd name="adj" fmla="val 3333"/>
            </a:avLst>
          </a:prstGeom>
          <a:solidFill>
            <a:srgbClr val="F4F5F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1394460" y="2651760"/>
            <a:ext cx="914400" cy="914400"/>
          </a:xfrm>
          <a:prstGeom prst="ellipse">
            <a:avLst/>
          </a:prstGeom>
          <a:solidFill>
            <a:srgbClr val="C8102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628" y="2852928"/>
            <a:ext cx="512064" cy="5120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611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39776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Tomas material del lugar.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44988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use material</a:t>
            </a:r>
            <a:endParaRPr lang="en-US" sz="9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8104" y="3410712"/>
            <a:ext cx="329184" cy="32918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410712" y="2377440"/>
            <a:ext cx="2606040" cy="2468880"/>
          </a:xfrm>
          <a:prstGeom prst="roundRect">
            <a:avLst>
              <a:gd name="adj" fmla="val 3333"/>
            </a:avLst>
          </a:prstGeom>
          <a:solidFill>
            <a:srgbClr val="F4F5F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Shape 9"/>
          <p:cNvSpPr/>
          <p:nvPr/>
        </p:nvSpPr>
        <p:spPr>
          <a:xfrm>
            <a:off x="4256532" y="2651760"/>
            <a:ext cx="914400" cy="914400"/>
          </a:xfrm>
          <a:prstGeom prst="ellipse">
            <a:avLst/>
          </a:prstGeom>
          <a:solidFill>
            <a:srgbClr val="D4AF3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7700" y="2852928"/>
            <a:ext cx="512064" cy="5120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47872" y="3611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SEÑAL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3593592" y="39776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Queda la tarjeta / espacio vacío.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3593592" y="44988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/ empty bin appears</a:t>
            </a:r>
            <a:endParaRPr lang="en-US" sz="9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3410712"/>
            <a:ext cx="329184" cy="329184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272784" y="2377440"/>
            <a:ext cx="2606040" cy="2468880"/>
          </a:xfrm>
          <a:prstGeom prst="roundRect">
            <a:avLst>
              <a:gd name="adj" fmla="val 3333"/>
            </a:avLst>
          </a:prstGeom>
          <a:solidFill>
            <a:srgbClr val="F4F5F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0" name="Shape 14"/>
          <p:cNvSpPr/>
          <p:nvPr/>
        </p:nvSpPr>
        <p:spPr>
          <a:xfrm>
            <a:off x="7118604" y="2651760"/>
            <a:ext cx="914400" cy="914400"/>
          </a:xfrm>
          <a:prstGeom prst="ellipse">
            <a:avLst/>
          </a:prstGeom>
          <a:solidFill>
            <a:srgbClr val="1F293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9772" y="2852928"/>
            <a:ext cx="512064" cy="51206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09944" y="3611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REPONES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6455664" y="39776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surte la cantidad exacta.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6455664" y="44988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quantity is replenished</a:t>
            </a:r>
            <a:endParaRPr lang="en-US" sz="95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2248" y="3410712"/>
            <a:ext cx="329184" cy="329184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9134856" y="2377440"/>
            <a:ext cx="2606040" cy="2468880"/>
          </a:xfrm>
          <a:prstGeom prst="roundRect">
            <a:avLst>
              <a:gd name="adj" fmla="val 3333"/>
            </a:avLst>
          </a:prstGeom>
          <a:solidFill>
            <a:srgbClr val="F4F5F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7" name="Shape 19"/>
          <p:cNvSpPr/>
          <p:nvPr/>
        </p:nvSpPr>
        <p:spPr>
          <a:xfrm>
            <a:off x="9980676" y="2651760"/>
            <a:ext cx="914400" cy="914400"/>
          </a:xfrm>
          <a:prstGeom prst="ellipse">
            <a:avLst/>
          </a:prstGeom>
          <a:solidFill>
            <a:srgbClr val="2E7D32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81844" y="2852928"/>
            <a:ext cx="512064" cy="51206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9272016" y="3611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LISTO</a:t>
            </a:r>
            <a:endParaRPr lang="en-US" sz="1600" dirty="0"/>
          </a:p>
        </p:txBody>
      </p:sp>
      <p:sp>
        <p:nvSpPr>
          <p:cNvPr id="30" name="Text 21"/>
          <p:cNvSpPr/>
          <p:nvPr/>
        </p:nvSpPr>
        <p:spPr>
          <a:xfrm>
            <a:off x="9317736" y="39776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vuelve a su Máximo.</a:t>
            </a:r>
            <a:endParaRPr lang="en-US" sz="1200" dirty="0"/>
          </a:p>
        </p:txBody>
      </p:sp>
      <p:sp>
        <p:nvSpPr>
          <p:cNvPr id="31" name="Text 22"/>
          <p:cNvSpPr/>
          <p:nvPr/>
        </p:nvSpPr>
        <p:spPr>
          <a:xfrm>
            <a:off x="9317736" y="44988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to Max — repeat</a:t>
            </a:r>
            <a:endParaRPr lang="en-US" sz="950" dirty="0"/>
          </a:p>
        </p:txBody>
      </p:sp>
      <p:sp>
        <p:nvSpPr>
          <p:cNvPr id="32" name="Text 23"/>
          <p:cNvSpPr/>
          <p:nvPr/>
        </p:nvSpPr>
        <p:spPr>
          <a:xfrm>
            <a:off x="548640" y="52578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 clave: el material solo se mueve cuando hay una tarjeta. / Material moves only when there is a card.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NIVELES / LEVELS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Mínimo y Máximo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and Maximum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material tiene un nivel Mínimo y Máximo. Cuando llegas al Mínimo, repones. / Each item has a Min and Max level; reorder when you reach Min.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3291840" cy="1051560"/>
          </a:xfrm>
          <a:prstGeom prst="roundRect">
            <a:avLst>
              <a:gd name="adj" fmla="val 6087"/>
            </a:avLst>
          </a:prstGeom>
          <a:solidFill>
            <a:srgbClr val="2E7D32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MÁXIMO / MAX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60520" y="2715768"/>
            <a:ext cx="7479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Estante lleno. Todo bien.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160520" y="3154680"/>
            <a:ext cx="7479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Shelf full — all good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822192"/>
            <a:ext cx="3291840" cy="1051560"/>
          </a:xfrm>
          <a:prstGeom prst="roundRect">
            <a:avLst>
              <a:gd name="adj" fmla="val 6087"/>
            </a:avLst>
          </a:prstGeom>
          <a:solidFill>
            <a:srgbClr val="F2B705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548640" y="3822192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REORDEN / REORDER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60520" y="3931920"/>
            <a:ext cx="7479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Aparece la tarjeta: hay que reponer.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160520" y="4370832"/>
            <a:ext cx="7479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appears — replenish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5038344"/>
            <a:ext cx="3291840" cy="1051560"/>
          </a:xfrm>
          <a:prstGeom prst="roundRect">
            <a:avLst>
              <a:gd name="adj" fmla="val 6087"/>
            </a:avLst>
          </a:prstGeom>
          <a:solidFill>
            <a:srgbClr val="C8102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548640" y="5038344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MÍNIMO / MIN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160520" y="5148072"/>
            <a:ext cx="7479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bajar de aquí: riesgo de paro.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160520" y="5586984"/>
            <a:ext cx="7479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go below — stop risk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ORDEN / ORDER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cosa en su lugar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place for everything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852160" cy="3931920"/>
          </a:xfrm>
          <a:prstGeom prst="roundRect">
            <a:avLst>
              <a:gd name="adj" fmla="val 2093"/>
            </a:avLst>
          </a:prstGeom>
          <a:solidFill>
            <a:srgbClr val="F4F5F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960120" y="2377440"/>
            <a:ext cx="914400" cy="914400"/>
          </a:xfrm>
          <a:prstGeom prst="ellipse">
            <a:avLst/>
          </a:prstGeom>
          <a:solidFill>
            <a:srgbClr val="C8102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" y="2578608"/>
            <a:ext cx="512064" cy="5120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03120" y="24688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ubicación tiene una dirección única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60120" y="356616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 -  Rack  -  Nivel  -  Posición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- Rack - Level - Position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/ Example:   RM - A - 1 - 01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60120" y="521208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dirección, el material se pierde o se cuenta dos veces. / Without an address, items get lost or double-counted.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766560" y="2194560"/>
            <a:ext cx="4873752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1E3E8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Shape 9"/>
          <p:cNvSpPr/>
          <p:nvPr/>
        </p:nvSpPr>
        <p:spPr>
          <a:xfrm>
            <a:off x="6995160" y="2395728"/>
            <a:ext cx="658368" cy="658368"/>
          </a:xfrm>
          <a:prstGeom prst="ellipse">
            <a:avLst/>
          </a:prstGeom>
          <a:solidFill>
            <a:srgbClr val="1F293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0001" y="2540569"/>
            <a:ext cx="368686" cy="36868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863840" y="2359152"/>
            <a:ext cx="3593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Rollos de lona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863840" y="2761488"/>
            <a:ext cx="3593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Ubicación / Loc: RM-A / RM-B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766560" y="3429000"/>
            <a:ext cx="4873752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1E3E8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7" name="Shape 13"/>
          <p:cNvSpPr/>
          <p:nvPr/>
        </p:nvSpPr>
        <p:spPr>
          <a:xfrm>
            <a:off x="6995160" y="3630168"/>
            <a:ext cx="658368" cy="658368"/>
          </a:xfrm>
          <a:prstGeom prst="ellipse">
            <a:avLst/>
          </a:prstGeom>
          <a:solidFill>
            <a:srgbClr val="1F293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0001" y="3775009"/>
            <a:ext cx="368686" cy="36868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863840" y="3593592"/>
            <a:ext cx="3593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Hilos (conos)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7863840" y="3995928"/>
            <a:ext cx="3593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Ubicación / Loc: CON-C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766560" y="4663440"/>
            <a:ext cx="4873752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1E3E8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2" name="Shape 17"/>
          <p:cNvSpPr/>
          <p:nvPr/>
        </p:nvSpPr>
        <p:spPr>
          <a:xfrm>
            <a:off x="6995160" y="4864608"/>
            <a:ext cx="658368" cy="658368"/>
          </a:xfrm>
          <a:prstGeom prst="ellipse">
            <a:avLst/>
          </a:prstGeom>
          <a:solidFill>
            <a:srgbClr val="1F293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0001" y="5009449"/>
            <a:ext cx="368686" cy="36868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863840" y="4828032"/>
            <a:ext cx="3593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Ojillos y herrajes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7863840" y="5230368"/>
            <a:ext cx="3593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Ubicación / Loc: HW-D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UNIDADES / UNITS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Contamos rollos, el sistema pide kilos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count rolls, the system asks for kilos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eso es vital usar la unidad correcta. Una conversión une las dos. / That is why the correct unit matters; a conversion links both.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3200400" cy="2377440"/>
          </a:xfrm>
          <a:prstGeom prst="roundRect">
            <a:avLst>
              <a:gd name="adj" fmla="val 3462"/>
            </a:avLst>
          </a:prstGeom>
          <a:solidFill>
            <a:srgbClr val="1F293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CUENTAS / You count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rollo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48640" y="4206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handling unit (UMM)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0" y="2514600"/>
            <a:ext cx="3200400" cy="2377440"/>
          </a:xfrm>
          <a:prstGeom prst="roundRect">
            <a:avLst>
              <a:gd name="adj" fmla="val 3462"/>
            </a:avLst>
          </a:prstGeom>
          <a:solidFill>
            <a:srgbClr val="C8102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5029200" y="2788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PIDE EL SISTEMA / System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32918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30.5 kg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029200" y="4206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UMC del pedimento</a:t>
            </a:r>
            <a:endParaRPr lang="en-US" sz="12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3383280"/>
            <a:ext cx="868680" cy="86868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8778240" y="2514600"/>
            <a:ext cx="2862072" cy="2377440"/>
          </a:xfrm>
          <a:prstGeom prst="roundRect">
            <a:avLst>
              <a:gd name="adj" fmla="val 3462"/>
            </a:avLst>
          </a:prstGeom>
          <a:solidFill>
            <a:srgbClr val="E6F4E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Text 13"/>
          <p:cNvSpPr/>
          <p:nvPr/>
        </p:nvSpPr>
        <p:spPr>
          <a:xfrm>
            <a:off x="9006840" y="2926080"/>
            <a:ext cx="22677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Conversión</a:t>
            </a:r>
            <a:endParaRPr lang="en-US" sz="15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largo × ancho × peso ÷ 1000</a:t>
            </a:r>
            <a:endParaRPr lang="en-US" sz="15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× 1.5 × 407/1000</a:t>
            </a:r>
            <a:endParaRPr lang="en-US" sz="15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30.5 kg / rollo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48640" y="5212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Tú cuentas en rollos; almacén captura la conversión. Así el físico cuadra con Anexo 24. / You count rolls; the system stays in step via the conversion.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ROL / YOUR ROLE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debes hacer TÚ? — Operador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must do — Operator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268712" y="640080"/>
            <a:ext cx="1188720" cy="1188720"/>
          </a:xfrm>
          <a:prstGeom prst="ellipse">
            <a:avLst/>
          </a:prstGeom>
          <a:solidFill>
            <a:srgbClr val="C8102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0230" y="901598"/>
            <a:ext cx="665683" cy="66568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965960"/>
            <a:ext cx="11091672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1E3E8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8" name="Shape 5"/>
          <p:cNvSpPr/>
          <p:nvPr/>
        </p:nvSpPr>
        <p:spPr>
          <a:xfrm>
            <a:off x="713232" y="2112264"/>
            <a:ext cx="493776" cy="493776"/>
          </a:xfrm>
          <a:prstGeom prst="ellipse">
            <a:avLst/>
          </a:prstGeom>
          <a:solidFill>
            <a:srgbClr val="2E7D32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863" y="2220895"/>
            <a:ext cx="276515" cy="27651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05740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 material solo de su ubicación etiquetada.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8823960" y="2057400"/>
            <a:ext cx="2679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material only from its labeled location.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2862072"/>
            <a:ext cx="11091672" cy="786384"/>
          </a:xfrm>
          <a:prstGeom prst="roundRect">
            <a:avLst>
              <a:gd name="adj" fmla="val 6977"/>
            </a:avLst>
          </a:prstGeom>
          <a:solidFill>
            <a:srgbClr val="F4F5F7"/>
          </a:solidFill>
          <a:ln w="12700">
            <a:solidFill>
              <a:srgbClr val="E1E3E8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Shape 9"/>
          <p:cNvSpPr/>
          <p:nvPr/>
        </p:nvSpPr>
        <p:spPr>
          <a:xfrm>
            <a:off x="713232" y="3008376"/>
            <a:ext cx="493776" cy="493776"/>
          </a:xfrm>
          <a:prstGeom prst="ellipse">
            <a:avLst/>
          </a:prstGeom>
          <a:solidFill>
            <a:srgbClr val="2E7D32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863" y="3117007"/>
            <a:ext cx="276515" cy="27651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2953512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se vacíe, coloca/entrega la tarjeta Kanban.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8823960" y="2953512"/>
            <a:ext cx="2679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bin empties, post/return the Kanban card.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3758184"/>
            <a:ext cx="11091672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1E3E8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8" name="Shape 13"/>
          <p:cNvSpPr/>
          <p:nvPr/>
        </p:nvSpPr>
        <p:spPr>
          <a:xfrm>
            <a:off x="713232" y="3904488"/>
            <a:ext cx="493776" cy="493776"/>
          </a:xfrm>
          <a:prstGeom prst="ellipse">
            <a:avLst/>
          </a:prstGeom>
          <a:solidFill>
            <a:srgbClr val="2E7D32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863" y="4013119"/>
            <a:ext cx="276515" cy="27651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17320" y="3849624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primero lo más viejo (PEPS).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8823960" y="3849624"/>
            <a:ext cx="2679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oldest stock first (FIFO).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548640" y="4654296"/>
            <a:ext cx="11091672" cy="786384"/>
          </a:xfrm>
          <a:prstGeom prst="roundRect">
            <a:avLst>
              <a:gd name="adj" fmla="val 6977"/>
            </a:avLst>
          </a:prstGeom>
          <a:solidFill>
            <a:srgbClr val="F4F5F7"/>
          </a:solidFill>
          <a:ln w="12700">
            <a:solidFill>
              <a:srgbClr val="E1E3E8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3" name="Shape 17"/>
          <p:cNvSpPr/>
          <p:nvPr/>
        </p:nvSpPr>
        <p:spPr>
          <a:xfrm>
            <a:off x="713232" y="4800600"/>
            <a:ext cx="493776" cy="493776"/>
          </a:xfrm>
          <a:prstGeom prst="ellipse">
            <a:avLst/>
          </a:prstGeom>
          <a:solidFill>
            <a:srgbClr val="2E7D32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863" y="4909231"/>
            <a:ext cx="276515" cy="27651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417320" y="4745736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tomes de más “por si acaso”.</a:t>
            </a:r>
            <a:endParaRPr lang="en-US" sz="1450" dirty="0"/>
          </a:p>
        </p:txBody>
      </p:sp>
      <p:sp>
        <p:nvSpPr>
          <p:cNvPr id="26" name="Text 19"/>
          <p:cNvSpPr/>
          <p:nvPr/>
        </p:nvSpPr>
        <p:spPr>
          <a:xfrm>
            <a:off x="8823960" y="4745736"/>
            <a:ext cx="2679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over-pull “just in case.”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548640" y="5550408"/>
            <a:ext cx="11091672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1E3E8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8" name="Shape 21"/>
          <p:cNvSpPr/>
          <p:nvPr/>
        </p:nvSpPr>
        <p:spPr>
          <a:xfrm>
            <a:off x="713232" y="5696712"/>
            <a:ext cx="493776" cy="493776"/>
          </a:xfrm>
          <a:prstGeom prst="ellipse">
            <a:avLst/>
          </a:prstGeom>
          <a:solidFill>
            <a:srgbClr val="2E7D32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863" y="5805343"/>
            <a:ext cx="276515" cy="276515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417320" y="564184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Avisa si algo no tiene tarjeta o ubicación.</a:t>
            </a:r>
            <a:endParaRPr lang="en-US" sz="1450" dirty="0"/>
          </a:p>
        </p:txBody>
      </p:sp>
      <p:sp>
        <p:nvSpPr>
          <p:cNvPr id="31" name="Text 23"/>
          <p:cNvSpPr/>
          <p:nvPr/>
        </p:nvSpPr>
        <p:spPr>
          <a:xfrm>
            <a:off x="8823960" y="5641848"/>
            <a:ext cx="2679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anything missing a card or location.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ROL / YOUR ROLE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debes hacer TÚ? — Almacén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must do — Warehouse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268712" y="640080"/>
            <a:ext cx="1188720" cy="1188720"/>
          </a:xfrm>
          <a:prstGeom prst="ellipse">
            <a:avLst/>
          </a:prstGeom>
          <a:solidFill>
            <a:srgbClr val="1F293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0230" y="901598"/>
            <a:ext cx="665683" cy="66568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965960"/>
            <a:ext cx="11091672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1E3E8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8" name="Shape 5"/>
          <p:cNvSpPr/>
          <p:nvPr/>
        </p:nvSpPr>
        <p:spPr>
          <a:xfrm>
            <a:off x="713232" y="2112264"/>
            <a:ext cx="493776" cy="493776"/>
          </a:xfrm>
          <a:prstGeom prst="ellipse">
            <a:avLst/>
          </a:prstGeom>
          <a:solidFill>
            <a:srgbClr val="1F293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863" y="2220895"/>
            <a:ext cx="276515" cy="27651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05740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cada recibo en su ubicación definida.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8823960" y="2057400"/>
            <a:ext cx="2679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away every receipt to its defined location.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2862072"/>
            <a:ext cx="11091672" cy="786384"/>
          </a:xfrm>
          <a:prstGeom prst="roundRect">
            <a:avLst>
              <a:gd name="adj" fmla="val 6977"/>
            </a:avLst>
          </a:prstGeom>
          <a:solidFill>
            <a:srgbClr val="F4F5F7"/>
          </a:solidFill>
          <a:ln w="12700">
            <a:solidFill>
              <a:srgbClr val="E1E3E8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Shape 9"/>
          <p:cNvSpPr/>
          <p:nvPr/>
        </p:nvSpPr>
        <p:spPr>
          <a:xfrm>
            <a:off x="713232" y="3008376"/>
            <a:ext cx="493776" cy="493776"/>
          </a:xfrm>
          <a:prstGeom prst="ellipse">
            <a:avLst/>
          </a:prstGeom>
          <a:solidFill>
            <a:srgbClr val="1F293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863" y="3117007"/>
            <a:ext cx="276515" cy="27651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2953512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en la unidad correcta (rollo, kg, pza).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8823960" y="2953512"/>
            <a:ext cx="2679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in the correct unit (roll, kg, pc).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3758184"/>
            <a:ext cx="11091672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1E3E8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8" name="Shape 13"/>
          <p:cNvSpPr/>
          <p:nvPr/>
        </p:nvSpPr>
        <p:spPr>
          <a:xfrm>
            <a:off x="713232" y="3904488"/>
            <a:ext cx="493776" cy="493776"/>
          </a:xfrm>
          <a:prstGeom prst="ellipse">
            <a:avLst/>
          </a:prstGeom>
          <a:solidFill>
            <a:srgbClr val="1F293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863" y="4013119"/>
            <a:ext cx="276515" cy="27651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17320" y="3849624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Surte la cantidad exacta que pide la tarjeta.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8823960" y="3849624"/>
            <a:ext cx="2679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Replenish the exact quantity on the card.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548640" y="4654296"/>
            <a:ext cx="11091672" cy="786384"/>
          </a:xfrm>
          <a:prstGeom prst="roundRect">
            <a:avLst>
              <a:gd name="adj" fmla="val 6977"/>
            </a:avLst>
          </a:prstGeom>
          <a:solidFill>
            <a:srgbClr val="F4F5F7"/>
          </a:solidFill>
          <a:ln w="12700">
            <a:solidFill>
              <a:srgbClr val="E1E3E8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3" name="Shape 17"/>
          <p:cNvSpPr/>
          <p:nvPr/>
        </p:nvSpPr>
        <p:spPr>
          <a:xfrm>
            <a:off x="713232" y="4800600"/>
            <a:ext cx="493776" cy="493776"/>
          </a:xfrm>
          <a:prstGeom prst="ellipse">
            <a:avLst/>
          </a:prstGeom>
          <a:solidFill>
            <a:srgbClr val="1F293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863" y="4909231"/>
            <a:ext cx="276515" cy="27651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417320" y="4745736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 rollos parciales y mermas.</a:t>
            </a:r>
            <a:endParaRPr lang="en-US" sz="1450" dirty="0"/>
          </a:p>
        </p:txBody>
      </p:sp>
      <p:sp>
        <p:nvSpPr>
          <p:cNvPr id="26" name="Text 19"/>
          <p:cNvSpPr/>
          <p:nvPr/>
        </p:nvSpPr>
        <p:spPr>
          <a:xfrm>
            <a:off x="8823960" y="4745736"/>
            <a:ext cx="2679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partial rolls and remnants.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548640" y="5550408"/>
            <a:ext cx="11091672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1E3E8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8" name="Shape 21"/>
          <p:cNvSpPr/>
          <p:nvPr/>
        </p:nvSpPr>
        <p:spPr>
          <a:xfrm>
            <a:off x="713232" y="5696712"/>
            <a:ext cx="493776" cy="493776"/>
          </a:xfrm>
          <a:prstGeom prst="ellipse">
            <a:avLst/>
          </a:prstGeom>
          <a:solidFill>
            <a:srgbClr val="1F293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863" y="5805343"/>
            <a:ext cx="276515" cy="276515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417320" y="564184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Apoya el conteo cíclico y la conciliación.</a:t>
            </a:r>
            <a:endParaRPr lang="en-US" sz="1450" dirty="0"/>
          </a:p>
        </p:txBody>
      </p:sp>
      <p:sp>
        <p:nvSpPr>
          <p:cNvPr id="31" name="Text 23"/>
          <p:cNvSpPr/>
          <p:nvPr/>
        </p:nvSpPr>
        <p:spPr>
          <a:xfrm>
            <a:off x="8823960" y="5641848"/>
            <a:ext cx="2679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cycle counts and reconciliation.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/ RULES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reglas de oro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golden rules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62956" cy="1143000"/>
          </a:xfrm>
          <a:prstGeom prst="roundRect">
            <a:avLst>
              <a:gd name="adj" fmla="val 6400"/>
            </a:avLst>
          </a:prstGeom>
          <a:solidFill>
            <a:srgbClr val="F4F5F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749808" y="2203704"/>
            <a:ext cx="676656" cy="676656"/>
          </a:xfrm>
          <a:prstGeom prst="ellipse">
            <a:avLst/>
          </a:prstGeom>
          <a:solidFill>
            <a:srgbClr val="C8102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672" y="2352568"/>
            <a:ext cx="378927" cy="37892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148840"/>
            <a:ext cx="4082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Sin tarjeta no hay movimiento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45920" y="2587752"/>
            <a:ext cx="4082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card, no move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77356" y="1965960"/>
            <a:ext cx="5362956" cy="1143000"/>
          </a:xfrm>
          <a:prstGeom prst="roundRect">
            <a:avLst>
              <a:gd name="adj" fmla="val 6400"/>
            </a:avLst>
          </a:prstGeom>
          <a:solidFill>
            <a:srgbClr val="F4F5F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Shape 8"/>
          <p:cNvSpPr/>
          <p:nvPr/>
        </p:nvSpPr>
        <p:spPr>
          <a:xfrm>
            <a:off x="6478524" y="2203704"/>
            <a:ext cx="676656" cy="676656"/>
          </a:xfrm>
          <a:prstGeom prst="ellipse">
            <a:avLst/>
          </a:prstGeom>
          <a:solidFill>
            <a:srgbClr val="C8102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7388" y="2352568"/>
            <a:ext cx="378927" cy="37892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74636" y="2148840"/>
            <a:ext cx="4082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Cada cosa en su ubicación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374636" y="2587752"/>
            <a:ext cx="4082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its location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3291840"/>
            <a:ext cx="5362956" cy="1143000"/>
          </a:xfrm>
          <a:prstGeom prst="roundRect">
            <a:avLst>
              <a:gd name="adj" fmla="val 6400"/>
            </a:avLst>
          </a:prstGeom>
          <a:solidFill>
            <a:srgbClr val="F4F5F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Shape 12"/>
          <p:cNvSpPr/>
          <p:nvPr/>
        </p:nvSpPr>
        <p:spPr>
          <a:xfrm>
            <a:off x="749808" y="3529584"/>
            <a:ext cx="676656" cy="676656"/>
          </a:xfrm>
          <a:prstGeom prst="ellipse">
            <a:avLst/>
          </a:prstGeom>
          <a:solidFill>
            <a:srgbClr val="C8102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672" y="3678448"/>
            <a:ext cx="378927" cy="37892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45920" y="3474720"/>
            <a:ext cx="4082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Siempre la unidad correcta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645920" y="3913632"/>
            <a:ext cx="4082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the right unit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277356" y="3291840"/>
            <a:ext cx="5362956" cy="1143000"/>
          </a:xfrm>
          <a:prstGeom prst="roundRect">
            <a:avLst>
              <a:gd name="adj" fmla="val 6400"/>
            </a:avLst>
          </a:prstGeom>
          <a:solidFill>
            <a:srgbClr val="F4F5F7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1" name="Shape 16"/>
          <p:cNvSpPr/>
          <p:nvPr/>
        </p:nvSpPr>
        <p:spPr>
          <a:xfrm>
            <a:off x="6478524" y="3529584"/>
            <a:ext cx="676656" cy="676656"/>
          </a:xfrm>
          <a:prstGeom prst="ellipse">
            <a:avLst/>
          </a:prstGeom>
          <a:solidFill>
            <a:srgbClr val="C8102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7388" y="3678448"/>
            <a:ext cx="378927" cy="37892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74636" y="3474720"/>
            <a:ext cx="4082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Repón al Mínimo, no antes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374636" y="3913632"/>
            <a:ext cx="4082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Replenish at Min, not before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548640" y="4617720"/>
            <a:ext cx="11091672" cy="1143000"/>
          </a:xfrm>
          <a:prstGeom prst="roundRect">
            <a:avLst>
              <a:gd name="adj" fmla="val 6400"/>
            </a:avLst>
          </a:prstGeom>
          <a:solidFill>
            <a:srgbClr val="E6F4E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6" name="Shape 20"/>
          <p:cNvSpPr/>
          <p:nvPr/>
        </p:nvSpPr>
        <p:spPr>
          <a:xfrm>
            <a:off x="749808" y="4855464"/>
            <a:ext cx="676656" cy="676656"/>
          </a:xfrm>
          <a:prstGeom prst="ellipse">
            <a:avLst/>
          </a:prstGeom>
          <a:solidFill>
            <a:srgbClr val="2E7D32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8672" y="5004328"/>
            <a:ext cx="378927" cy="37892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4800600"/>
            <a:ext cx="9811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Si algo está mal, avisa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1645920" y="5239512"/>
            <a:ext cx="9811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something is off, speak up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CUIDADO / CAUTION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NO debemos hacer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must NOT do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91672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2C9CF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713232" y="2112264"/>
            <a:ext cx="493776" cy="493776"/>
          </a:xfrm>
          <a:prstGeom prst="ellipse">
            <a:avLst/>
          </a:prstGeom>
          <a:solidFill>
            <a:srgbClr val="C8102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63" y="2220895"/>
            <a:ext cx="276515" cy="27651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05740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Tomar material sin la tarjeta.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823960" y="2057400"/>
            <a:ext cx="2679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Taking material without the card.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2862072"/>
            <a:ext cx="11091672" cy="786384"/>
          </a:xfrm>
          <a:prstGeom prst="roundRect">
            <a:avLst>
              <a:gd name="adj" fmla="val 6977"/>
            </a:avLst>
          </a:prstGeom>
          <a:solidFill>
            <a:srgbClr val="FBE4E7"/>
          </a:solidFill>
          <a:ln w="12700">
            <a:solidFill>
              <a:srgbClr val="F2C9CF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Shape 8"/>
          <p:cNvSpPr/>
          <p:nvPr/>
        </p:nvSpPr>
        <p:spPr>
          <a:xfrm>
            <a:off x="713232" y="3008376"/>
            <a:ext cx="493776" cy="493776"/>
          </a:xfrm>
          <a:prstGeom prst="ellipse">
            <a:avLst/>
          </a:prstGeom>
          <a:solidFill>
            <a:srgbClr val="C8102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63" y="3117007"/>
            <a:ext cx="276515" cy="27651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2953512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Dejar rollos o cajas fuera de su lugar.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8823960" y="2953512"/>
            <a:ext cx="2679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Leaving rolls or boxes out of place.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3758184"/>
            <a:ext cx="11091672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2C9CF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Shape 12"/>
          <p:cNvSpPr/>
          <p:nvPr/>
        </p:nvSpPr>
        <p:spPr>
          <a:xfrm>
            <a:off x="713232" y="3904488"/>
            <a:ext cx="493776" cy="493776"/>
          </a:xfrm>
          <a:prstGeom prst="ellipse">
            <a:avLst/>
          </a:prstGeom>
          <a:solidFill>
            <a:srgbClr val="C8102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63" y="4013119"/>
            <a:ext cx="276515" cy="27651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3849624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Contar o capturar en la unidad equivocada.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823960" y="3849624"/>
            <a:ext cx="2679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Counting in the wrong unit.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4654296"/>
            <a:ext cx="11091672" cy="786384"/>
          </a:xfrm>
          <a:prstGeom prst="roundRect">
            <a:avLst>
              <a:gd name="adj" fmla="val 6977"/>
            </a:avLst>
          </a:prstGeom>
          <a:solidFill>
            <a:srgbClr val="FBE4E7"/>
          </a:solidFill>
          <a:ln w="12700">
            <a:solidFill>
              <a:srgbClr val="F2C9CF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1" name="Shape 16"/>
          <p:cNvSpPr/>
          <p:nvPr/>
        </p:nvSpPr>
        <p:spPr>
          <a:xfrm>
            <a:off x="713232" y="4800600"/>
            <a:ext cx="493776" cy="493776"/>
          </a:xfrm>
          <a:prstGeom prst="ellipse">
            <a:avLst/>
          </a:prstGeom>
          <a:solidFill>
            <a:srgbClr val="C8102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63" y="4909231"/>
            <a:ext cx="276515" cy="27651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17320" y="4745736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“Guardar de más” escondido para uno </a:t>
            </a:r>
            <a:r>
              <a:rPr lang="en-US" sz="1450" b="1" dirty="0" err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mismo</a:t>
            </a: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NO REGISTRAR LO QUE TRAJISTE SIN DOCUMENTAR.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8823960" y="4745736"/>
            <a:ext cx="2679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Hoarding extra stock.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548640" y="5550408"/>
            <a:ext cx="11091672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2C9CF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6" name="Shape 20"/>
          <p:cNvSpPr/>
          <p:nvPr/>
        </p:nvSpPr>
        <p:spPr>
          <a:xfrm>
            <a:off x="713232" y="5696712"/>
            <a:ext cx="493776" cy="493776"/>
          </a:xfrm>
          <a:prstGeom prst="ellipse">
            <a:avLst/>
          </a:prstGeom>
          <a:solidFill>
            <a:srgbClr val="C8102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63" y="5805343"/>
            <a:ext cx="276515" cy="27651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417320" y="564184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Ignorar una tarjeta o un faltante.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8823960" y="5641848"/>
            <a:ext cx="2679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Ignoring a card or a shortage.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/ GOAL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se ve el éxito?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success looks like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62956" cy="1783080"/>
          </a:xfrm>
          <a:prstGeom prst="roundRect">
            <a:avLst>
              <a:gd name="adj" fmla="val 4615"/>
            </a:avLst>
          </a:prstGeom>
          <a:solidFill>
            <a:srgbClr val="E6F4E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841248" y="2304288"/>
            <a:ext cx="914400" cy="914400"/>
          </a:xfrm>
          <a:prstGeom prst="ellipse">
            <a:avLst/>
          </a:prstGeom>
          <a:solidFill>
            <a:srgbClr val="2E7D32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2505456"/>
            <a:ext cx="512064" cy="5120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20240" y="2377440"/>
            <a:ext cx="38084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Físico = Sistema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920240" y="2816352"/>
            <a:ext cx="38084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conteo coincide con Anexo 24.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920240" y="3337560"/>
            <a:ext cx="38084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matches Anexo 24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77356" y="2011680"/>
            <a:ext cx="5362956" cy="1783080"/>
          </a:xfrm>
          <a:prstGeom prst="roundRect">
            <a:avLst>
              <a:gd name="adj" fmla="val 4615"/>
            </a:avLst>
          </a:prstGeom>
          <a:solidFill>
            <a:srgbClr val="E6F4E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Shape 9"/>
          <p:cNvSpPr/>
          <p:nvPr/>
        </p:nvSpPr>
        <p:spPr>
          <a:xfrm>
            <a:off x="6569964" y="2304288"/>
            <a:ext cx="914400" cy="914400"/>
          </a:xfrm>
          <a:prstGeom prst="ellipse">
            <a:avLst/>
          </a:prstGeom>
          <a:solidFill>
            <a:srgbClr val="2E7D32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1132" y="2505456"/>
            <a:ext cx="512064" cy="5120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48956" y="2377440"/>
            <a:ext cx="38084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faltantes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648956" y="2816352"/>
            <a:ext cx="38084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paramos por falta de material.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7648956" y="3337560"/>
            <a:ext cx="38084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stockouts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48640" y="4069080"/>
            <a:ext cx="5362956" cy="1783080"/>
          </a:xfrm>
          <a:prstGeom prst="roundRect">
            <a:avLst>
              <a:gd name="adj" fmla="val 4615"/>
            </a:avLst>
          </a:prstGeom>
          <a:solidFill>
            <a:srgbClr val="E6F4E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8" name="Shape 14"/>
          <p:cNvSpPr/>
          <p:nvPr/>
        </p:nvSpPr>
        <p:spPr>
          <a:xfrm>
            <a:off x="841248" y="4361688"/>
            <a:ext cx="914400" cy="914400"/>
          </a:xfrm>
          <a:prstGeom prst="ellipse">
            <a:avLst/>
          </a:prstGeom>
          <a:solidFill>
            <a:srgbClr val="2E7D32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" y="4562856"/>
            <a:ext cx="512064" cy="5120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920240" y="4434840"/>
            <a:ext cx="38084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etiquetado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1920240" y="4873752"/>
            <a:ext cx="38084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material con lugar y tarjeta.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1920240" y="5394960"/>
            <a:ext cx="38084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labeled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277356" y="4069080"/>
            <a:ext cx="5362956" cy="1783080"/>
          </a:xfrm>
          <a:prstGeom prst="roundRect">
            <a:avLst>
              <a:gd name="adj" fmla="val 4615"/>
            </a:avLst>
          </a:prstGeom>
          <a:solidFill>
            <a:srgbClr val="E6F4EA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4" name="Shape 19"/>
          <p:cNvSpPr/>
          <p:nvPr/>
        </p:nvSpPr>
        <p:spPr>
          <a:xfrm>
            <a:off x="6569964" y="4361688"/>
            <a:ext cx="914400" cy="914400"/>
          </a:xfrm>
          <a:prstGeom prst="ellipse">
            <a:avLst/>
          </a:prstGeom>
          <a:solidFill>
            <a:srgbClr val="2E7D32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1132" y="4562856"/>
            <a:ext cx="512064" cy="51206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648956" y="4434840"/>
            <a:ext cx="38084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más fácil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7648956" y="4873752"/>
            <a:ext cx="38084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búsquedas, menos estrés.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7648956" y="5394960"/>
            <a:ext cx="38084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Easier daily work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6">
            <a:extLst>
              <a:ext uri="{FF2B5EF4-FFF2-40B4-BE49-F238E27FC236}">
                <a16:creationId xmlns:a16="http://schemas.microsoft.com/office/drawing/2014/main" id="{E722B2DD-E14D-4972-9D98-5D6E61B1B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8">
            <a:extLst>
              <a:ext uri="{FF2B5EF4-FFF2-40B4-BE49-F238E27FC236}">
                <a16:creationId xmlns:a16="http://schemas.microsoft.com/office/drawing/2014/main" id="{0CFB124C-4B0C-4A81-8633-17257B1516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82006" y="569844"/>
            <a:ext cx="8427988" cy="5649981"/>
          </a:xfrm>
          <a:prstGeom prst="rect">
            <a:avLst/>
          </a:prstGeom>
          <a:ln>
            <a:noFill/>
          </a:ln>
          <a:effectLst>
            <a:outerShdw blurRad="317500" dist="317500" dir="7140000" sx="95000" sy="95000" algn="t" rotWithShape="0">
              <a:srgbClr val="000000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Imagen 1" descr="No hay descripción alternativa para esta imagen">
            <a:extLst>
              <a:ext uri="{FF2B5EF4-FFF2-40B4-BE49-F238E27FC236}">
                <a16:creationId xmlns:a16="http://schemas.microsoft.com/office/drawing/2014/main" id="{91A17703-B151-4589-145C-C7C789F044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2"/>
          <a:stretch>
            <a:fillRect/>
          </a:stretch>
        </p:blipFill>
        <p:spPr>
          <a:xfrm>
            <a:off x="1882006" y="569843"/>
            <a:ext cx="8450714" cy="5649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7329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463040"/>
            <a:ext cx="4023360" cy="4023360"/>
          </a:xfrm>
          <a:prstGeom prst="ellipse">
            <a:avLst/>
          </a:prstGeom>
          <a:solidFill>
            <a:srgbClr val="C8102E">
              <a:alpha val="2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9262872" y="4297680"/>
            <a:ext cx="4023360" cy="4023360"/>
          </a:xfrm>
          <a:prstGeom prst="ellipse">
            <a:avLst/>
          </a:prstGeom>
          <a:solidFill>
            <a:srgbClr val="D4AF37">
              <a:alpha val="18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978010" y="1234440"/>
            <a:ext cx="1143000" cy="1143000"/>
          </a:xfrm>
          <a:prstGeom prst="ellipse">
            <a:avLst/>
          </a:prstGeom>
          <a:solidFill>
            <a:srgbClr val="C8102E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470" y="14401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7432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¡Tú haces que el Kanban funcione!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548640" y="3611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9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make Kanban work.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434340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Siguiente paso / Next step:</a:t>
            </a:r>
            <a:endParaRPr lang="en-US" sz="2000" b="1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E6E8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Arrancamos con un piloto en una familia de producto y juntas diarias de 10 minutos.</a:t>
            </a:r>
            <a:endParaRPr lang="en-US" sz="2000" b="1" dirty="0"/>
          </a:p>
          <a:p>
            <a:pPr marL="0" indent="0">
              <a:spcAft>
                <a:spcPts val="600"/>
              </a:spcAft>
              <a:buNone/>
            </a:pPr>
            <a:r>
              <a:rPr lang="en-US" b="1" i="1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start with a pilot on one product family and a 10-minute daily standup.</a:t>
            </a:r>
            <a:endParaRPr lang="en-US" sz="2000" b="1" dirty="0"/>
          </a:p>
        </p:txBody>
      </p:sp>
      <p:sp>
        <p:nvSpPr>
          <p:cNvPr id="9" name="Text 6"/>
          <p:cNvSpPr/>
          <p:nvPr/>
        </p:nvSpPr>
        <p:spPr>
          <a:xfrm>
            <a:off x="548640" y="59436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 / Questions   ·   ¡Gracias! / Thank you</a:t>
            </a:r>
            <a:endParaRPr lang="en-US" sz="1400" dirty="0"/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6499FEA1-D331-3BBB-50F2-E0767B474A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2284" y="5852160"/>
            <a:ext cx="1489512" cy="499680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1606</Words>
  <Application>Microsoft Office PowerPoint</Application>
  <PresentationFormat>Panorámica</PresentationFormat>
  <Paragraphs>222</Paragraphs>
  <Slides>16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19" baseType="lpstr">
      <vt:lpstr>Arial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Inducción Kanban</dc:title>
  <dc:subject>PptxGenJS Presentation</dc:subject>
  <dc:creator>TACNA Services, Inc.</dc:creator>
  <cp:lastModifiedBy>Susana De la Torre</cp:lastModifiedBy>
  <cp:revision>3</cp:revision>
  <dcterms:created xsi:type="dcterms:W3CDTF">2026-06-27T02:48:38Z</dcterms:created>
  <dcterms:modified xsi:type="dcterms:W3CDTF">2026-06-27T23:03:09Z</dcterms:modified>
</cp:coreProperties>
</file>